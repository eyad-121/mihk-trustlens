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96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hk-score.replit.app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67" y="1208015"/>
            <a:ext cx="2377440" cy="1536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4612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4400" b="1" dirty="0">
                <a:solidFill>
                  <a:srgbClr val="F2E8E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      </a:t>
            </a:r>
            <a:r>
              <a:rPr lang="en-US" sz="4400" b="1" dirty="0">
                <a:solidFill>
                  <a:srgbClr val="F2E8E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مِحَك · TrustLens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42519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endParaRPr lang="en-US" sz="2600" dirty="0"/>
          </a:p>
        </p:txBody>
      </p:sp>
      <p:pic>
        <p:nvPicPr>
          <p:cNvPr id="5" name="Image 1" descr="assets/alin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035040"/>
            <a:ext cx="1371600" cy="548640"/>
          </a:xfrm>
          <a:prstGeom prst="rect">
            <a:avLst/>
          </a:prstGeom>
        </p:spPr>
      </p:pic>
      <p:pic>
        <p:nvPicPr>
          <p:cNvPr id="6" name="Image 2" descr="assets/tuwai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6053328"/>
            <a:ext cx="173736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4341" y="1308263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أعضاء الفريق</a:t>
            </a:r>
            <a:endParaRPr lang="en-US" sz="3600" dirty="0"/>
          </a:p>
        </p:txBody>
      </p:sp>
      <p:pic>
        <p:nvPicPr>
          <p:cNvPr id="7" name="Image 3" descr="assets/circle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934" y="2578608"/>
            <a:ext cx="1316736" cy="131673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677022" y="4224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</a:rPr>
              <a:t>عبدالله محمد</a:t>
            </a:r>
            <a:endParaRPr lang="en-US" sz="2000" dirty="0"/>
          </a:p>
        </p:txBody>
      </p:sp>
      <p:pic>
        <p:nvPicPr>
          <p:cNvPr id="9" name="Image 4" descr="assets/circle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649" y="2578608"/>
            <a:ext cx="1316736" cy="131673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845737" y="4224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</a:rPr>
              <a:t>إياد حمدي</a:t>
            </a:r>
            <a:endParaRPr lang="en-US" sz="2000" dirty="0"/>
          </a:p>
        </p:txBody>
      </p:sp>
      <p:pic>
        <p:nvPicPr>
          <p:cNvPr id="11" name="Image 5" descr="assets/circle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003" y="2578608"/>
            <a:ext cx="1316736" cy="131673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939091" y="4224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</a:rPr>
              <a:t>أسامة ماطر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0" y="1234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المحتويات: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10277856" y="237744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/>
          <p:nvPr/>
        </p:nvSpPr>
        <p:spPr>
          <a:xfrm>
            <a:off x="10277856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309360" y="226771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أعضاء الفريق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10277856" y="3218688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10277856" y="32186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09360" y="310896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 وحلّها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10277856" y="4059936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0277856" y="4059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09360" y="395020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وصف الفكرة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10277856" y="490118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10277856" y="49011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309360" y="479145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7370064" y="237744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370064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2926080" y="226771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جميع </a:t>
            </a:r>
            <a:r>
              <a:rPr lang="en-US" sz="1900" dirty="0" err="1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البيانات</a:t>
            </a: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900" dirty="0" err="1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المستخدمة</a:t>
            </a: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(</a:t>
            </a:r>
            <a:r>
              <a:rPr lang="en-US" sz="1900" dirty="0" err="1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نصية</a:t>
            </a: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900" dirty="0" err="1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وغير</a:t>
            </a: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900" dirty="0" err="1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نصية</a:t>
            </a:r>
            <a:r>
              <a:rPr lang="ar-SA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)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7370064" y="3218688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7370064" y="32186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2926080" y="310896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كيفية توفير هذه البيانات وكيفية استخدامها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7370064" y="4059936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7370064" y="4059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2926080" y="395020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ملخص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 وحلّها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2057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الجوهر: البنوك ترى ماضي المنشأة، بينما التعثّر يبدأ في حاضرها. مِحَك يقرأ الإشارات التشغيلية الحيّة من مصادر رسمية لا تكذب.</a:t>
            </a:r>
            <a:endParaRPr lang="en-US" sz="1500" dirty="0"/>
          </a:p>
        </p:txBody>
      </p:sp>
      <p:pic>
        <p:nvPicPr>
          <p:cNvPr id="6" name="Image 2" descr="assets/ic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063240"/>
            <a:ext cx="603504" cy="58521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852160" y="3044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إشارات تشغيلية صامتة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91440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القوائم المالية والضمانات تعكس الأمس، بينما التعثّر يبدأ اليوم بإشارات مثل تأخّر الرواتب وتسريح الموظفين وتراجع الإيراد الفعلي.</a:t>
            </a:r>
            <a:endParaRPr lang="en-US" sz="1350" dirty="0"/>
          </a:p>
        </p:txBody>
      </p:sp>
      <p:pic>
        <p:nvPicPr>
          <p:cNvPr id="9" name="Image 3" descr="assets/ic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4206240"/>
            <a:ext cx="603504" cy="58521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52160" y="4187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درجة ثقة من مصادر لا تُزوَّر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914400" y="4663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يحوّل مِحَك البيانات الحكومية الرسمية (GOSI، ZATCA، مدد، SIMAH) إلى درجة ثقة تشغيلية واحدة قابلة للمقارنة بمتوسط القطاع.</a:t>
            </a:r>
            <a:endParaRPr lang="en-US" sz="1350" dirty="0"/>
          </a:p>
        </p:txBody>
      </p:sp>
      <p:pic>
        <p:nvPicPr>
          <p:cNvPr id="12" name="Image 4" descr="assets/ic_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5349240"/>
            <a:ext cx="603504" cy="58521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852160" y="5330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كشف مبكر وقرار أدق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914400" y="5806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تنبيهات تظهر قبل 6–12 شهراً من ظهور التعثّر في القوائم المالية، مع توصية تمويل جاهزة للمحلل الائتماني.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البيانات المستخدمة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البيانات المستخدمة في مِحَك بيانات حكومية رسمية غير قابلة للتزوير، تُجمَع بموافقة المنشأة عبر تكامل رسمي.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المصادر: خمسة مصادر رسمية — GOSI (القوى العاملة والرواتب)، ZATCA (الإيراد الحقيقي)، مدد/WPS (انتظام الرواتب)، Open Banking عبر ساما (التدفق النقدي)، وSIMAH (السجل الائتماني).  </a:t>
            </a:r>
            <a:r>
              <a:rPr lang="en-US" sz="12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22960" y="31729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المعالجة: تُجمَع البيانات بموافقة المنشأة عبر تكامل رسمي، ثم تُنظَّف وتُوحَّد وتُطبَّع لتغذية محرك درجة الثقة.  </a:t>
            </a:r>
            <a:r>
              <a:rPr lang="en-US" sz="12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22960" y="373989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التحديات: الوصول الرسمي لواجهات البيانات الحكومية وربطها ضمن إطار المصرفية المفتوحة يتطلب أذونات وتكاملاً دقيقاً.  </a:t>
            </a:r>
            <a:r>
              <a:rPr lang="en-US" sz="12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905881" y="5074920"/>
            <a:ext cx="2377440" cy="1051560"/>
          </a:xfrm>
          <a:prstGeom prst="roundRect">
            <a:avLst>
              <a:gd name="adj" fmla="val 12174"/>
            </a:avLst>
          </a:prstGeom>
          <a:solidFill>
            <a:srgbClr val="F3F3F3"/>
          </a:solidFill>
          <a:ln w="15875">
            <a:solidFill>
              <a:srgbClr val="C9B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2905881" y="51389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+99%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905881" y="56509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منشآت صغيرة ومتوسطة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853324" y="5074920"/>
            <a:ext cx="2377440" cy="1051560"/>
          </a:xfrm>
          <a:prstGeom prst="roundRect">
            <a:avLst>
              <a:gd name="adj" fmla="val 12174"/>
            </a:avLst>
          </a:prstGeom>
          <a:solidFill>
            <a:srgbClr val="F3F3F3"/>
          </a:solidFill>
          <a:ln w="15875">
            <a:solidFill>
              <a:srgbClr val="C9B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5853324" y="51389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35%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853324" y="56509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مساهمة مستهدفة 2030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792393" y="5074920"/>
            <a:ext cx="2377440" cy="1051560"/>
          </a:xfrm>
          <a:prstGeom prst="roundRect">
            <a:avLst>
              <a:gd name="adj" fmla="val 12174"/>
            </a:avLst>
          </a:prstGeom>
          <a:solidFill>
            <a:srgbClr val="F3F3F3"/>
          </a:solidFill>
          <a:ln w="15875">
            <a:solidFill>
              <a:srgbClr val="C9B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8792393" y="51389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792393" y="56509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بيانات رسمية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4000" dirty="0"/>
          </a:p>
        </p:txBody>
      </p:sp>
      <p:pic>
        <p:nvPicPr>
          <p:cNvPr id="5" name="Image 2" descr="assets/ic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350008"/>
            <a:ext cx="603504" cy="60350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766560" y="2194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تكامل واجهات حكومية (APIs)</a:t>
            </a:r>
            <a:endParaRPr lang="en-US" sz="1500" dirty="0"/>
          </a:p>
          <a:p>
            <a:pPr marL="0" indent="0" algn="r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الربط مع GOSI وZATCA ومدد وSIMAH.</a:t>
            </a:r>
            <a:endParaRPr lang="en-US" sz="1500" dirty="0"/>
          </a:p>
        </p:txBody>
      </p:sp>
      <p:pic>
        <p:nvPicPr>
          <p:cNvPr id="7" name="Image 3" descr="assets/ic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3721608"/>
            <a:ext cx="603504" cy="60350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76656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الاصطناعي وتعلّم الآلة</a:t>
            </a:r>
            <a:endParaRPr lang="en-US" sz="1500" dirty="0"/>
          </a:p>
          <a:p>
            <a:pPr marL="0" indent="0" algn="r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حساب درجة الثقة والتنبّؤ بالتعثّر.</a:t>
            </a:r>
            <a:endParaRPr lang="en-US" sz="1500" dirty="0"/>
          </a:p>
        </p:txBody>
      </p:sp>
      <p:pic>
        <p:nvPicPr>
          <p:cNvPr id="9" name="Image 4" descr="assets/ic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5093208"/>
            <a:ext cx="603504" cy="60350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766560" y="4937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معالجة اللغة الطبيعية (NLP)</a:t>
            </a:r>
            <a:endParaRPr lang="en-US" sz="1500" dirty="0"/>
          </a:p>
          <a:p>
            <a:pPr marL="0" indent="0" algn="r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توليد تقارير عربية للمحلل الائتماني.</a:t>
            </a:r>
            <a:endParaRPr lang="en-US" sz="1500" dirty="0"/>
          </a:p>
        </p:txBody>
      </p:sp>
      <p:pic>
        <p:nvPicPr>
          <p:cNvPr id="11" name="Image 5" descr="assets/ic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50008"/>
            <a:ext cx="603504" cy="60350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34440" y="21945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المصرفية المفتوحة (Open Banking)</a:t>
            </a:r>
            <a:endParaRPr lang="en-US" sz="1500" dirty="0"/>
          </a:p>
          <a:p>
            <a:pPr marL="0" indent="0" algn="r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قراءة التدفق النقدي الحيّ عبر إطار ساما.</a:t>
            </a:r>
            <a:endParaRPr lang="en-US" sz="1500" dirty="0"/>
          </a:p>
        </p:txBody>
      </p:sp>
      <p:pic>
        <p:nvPicPr>
          <p:cNvPr id="13" name="Image 6" descr="assets/ic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721608"/>
            <a:ext cx="603504" cy="60350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34440" y="35661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محرك القواعد والتنبيهات</a:t>
            </a:r>
            <a:endParaRPr lang="en-US" sz="1500" dirty="0"/>
          </a:p>
          <a:p>
            <a:pPr marL="0" indent="0" algn="r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تصنيف الإشارات: خطر / تحذير / تنبيه.</a:t>
            </a:r>
            <a:endParaRPr lang="en-US" sz="1500" dirty="0"/>
          </a:p>
        </p:txBody>
      </p:sp>
      <p:pic>
        <p:nvPicPr>
          <p:cNvPr id="15" name="Image 7" descr="assets/ic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093208"/>
            <a:ext cx="603504" cy="603504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34440" y="49377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تحكم تفاعلية</a:t>
            </a:r>
            <a:endParaRPr lang="en-US" sz="1500" dirty="0"/>
          </a:p>
          <a:p>
            <a:pPr marL="0" indent="0" algn="r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عرض الدرجة والمؤشرات والتوصية للبنك.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0"/>
            <a:ext cx="3608943" cy="6858000"/>
          </a:xfrm>
          <a:prstGeom prst="rect">
            <a:avLst/>
          </a:prstGeom>
        </p:spPr>
      </p:pic>
      <p:pic>
        <p:nvPicPr>
          <p:cNvPr id="4" name="Image 2" descr="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43200" y="1874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وصف الفكرة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2743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مِحَك · TrustLens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1920240" y="34290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منصة ذكاء تشغيلي تجلس بين المنشأة والبنك. تأخذ رقم السجل التجاري وتتكامل — بموافقة المنشأة — مع المصادر الحكومية، لتُنتج درجة ثقة تشغيلية، وتنبيهات مبكرة، وتوصية تمويل، وتقريراً ذكياً بالعربية.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0"/>
            <a:ext cx="3608943" cy="6858000"/>
          </a:xfrm>
          <a:prstGeom prst="rect">
            <a:avLst/>
          </a:prstGeom>
        </p:spPr>
      </p:pic>
      <p:pic>
        <p:nvPicPr>
          <p:cNvPr id="4" name="Image 2" descr="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737360" y="16916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3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كيفية توفير هذه البيانات وكيفية استخدامها</a:t>
            </a:r>
            <a:endParaRPr lang="en-US" sz="3300" dirty="0"/>
          </a:p>
        </p:txBody>
      </p:sp>
      <p:sp>
        <p:nvSpPr>
          <p:cNvPr id="6" name="Text 1"/>
          <p:cNvSpPr/>
          <p:nvPr/>
        </p:nvSpPr>
        <p:spPr>
          <a:xfrm>
            <a:off x="1737360" y="3429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تُوفَّر البيانات عبر تكامل رسمي وبموافقة المنشأة مع الجهات الحكومية، ثم تُحلَّل بالذكاء الاصطناعي لإنتاج درجة الثقة والتنبيهات وتوصية التمويل — بما يدعم قرار المحلل الائتماني وتحليل النتائج.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0"/>
            <a:ext cx="3943879" cy="6858000"/>
          </a:xfrm>
          <a:prstGeom prst="rect">
            <a:avLst/>
          </a:prstGeom>
        </p:spPr>
      </p:pic>
      <p:pic>
        <p:nvPicPr>
          <p:cNvPr id="3" name="Image 1" descr="assets/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4" name="Image 2" descr="assets/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057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مواءمة الفكرة :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1463040" y="29718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تتماشى فكرة مِحَك مع محور تمكين المنشآت الصغيرة والمتوسطة ورؤية 2030: رفع مساهمتها في الناتج، وتسهيل وصولها إلى تمويل عادل، وتقليل تعثّر القروض لدى البنوك عبر قرارات ائتمانية أدق.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0"/>
            <a:ext cx="3943879" cy="6858000"/>
          </a:xfrm>
          <a:prstGeom prst="rect">
            <a:avLst/>
          </a:prstGeom>
        </p:spPr>
      </p:pic>
      <p:pic>
        <p:nvPicPr>
          <p:cNvPr id="4" name="Image 2" descr="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432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ملخص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1371600" y="31089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مِحَك منصة B2B تحوّل البيانات الحكومية غير القابلة للتزوير إلى درجة ثقة تشغيلية وتوصية تمويل. النتيجة: قرارات ائتمانية أسرع وأدق، ومحفظة أنظف للبنوك، ووصول أعدل للتمويل للمنشآت السليمة — بأثر مباشر على رؤية 2030.</a:t>
            </a:r>
            <a:endParaRPr lang="en-US" sz="16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53E743-5342-634E-6253-FB739C6349C8}"/>
              </a:ext>
            </a:extLst>
          </p:cNvPr>
          <p:cNvSpPr/>
          <p:nvPr/>
        </p:nvSpPr>
        <p:spPr>
          <a:xfrm>
            <a:off x="1773382" y="5153891"/>
            <a:ext cx="5999018" cy="11776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accent2"/>
                </a:solidFill>
              </a:rPr>
              <a:t>نموذج عمل</a:t>
            </a:r>
            <a:r>
              <a:rPr lang="ar-SA" dirty="0">
                <a:solidFill>
                  <a:schemeClr val="accent2"/>
                </a:solidFill>
              </a:rPr>
              <a:t> 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قائم على الاشتراك السنوي للبنوك، يحقق الاستدامة المالية وقابلية التوسع لخدمة جميع بنوك المملكة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7373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الاختبار/التحقق: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4400" y="2880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9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النموذج الأولي (MVP): تكامل تجريبي مع GOSI وZATCA، ومحرك لحساب درجة الثقة، ولوحة تحكم، وتقرير ذكي بالعربية. تحقّقنا من منطق المؤشرات وربط كل إشارة بمصدرها عبر حالات منشآت نموذجية.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17520" y="15544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العرض التوضيحي / اللقطات / الفيديوهات / المحاكاة: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2743200" y="5871557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يعرض النموذج الحالي لوحة التحكم ودرجة الثقة والتقرير الذكي — بما يُظهر إنجاز ما يقارب 30% من المشروع.</a:t>
            </a:r>
            <a:endParaRPr lang="en-US" sz="1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6C9C2-0F09-C6E5-A647-9B7554428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12" y="2635639"/>
            <a:ext cx="3581924" cy="3345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30C14-52CC-E6E1-1A24-62186A2D4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276" y="2600061"/>
            <a:ext cx="3581924" cy="33810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A2852F-112D-6197-3341-911F72521027}"/>
              </a:ext>
            </a:extLst>
          </p:cNvPr>
          <p:cNvSpPr txBox="1"/>
          <p:nvPr/>
        </p:nvSpPr>
        <p:spPr>
          <a:xfrm>
            <a:off x="420624" y="3956706"/>
            <a:ext cx="3187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https://mhk-score.replit.app/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sset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 والخطط المستقبلية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6400800" y="25146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ECE7E3"/>
          </a:solidFill>
          <a:ln/>
          <a:effectLst>
            <a:outerShdw blurRad="76200" dist="25400" dir="5400000" algn="bl" rotWithShape="0">
              <a:srgbClr val="BFB9B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/>
          <p:nvPr/>
        </p:nvSpPr>
        <p:spPr>
          <a:xfrm>
            <a:off x="6629400" y="26791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التحديات: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629400" y="32278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الوصول الرسمي لواجهات البيانات الحكومية (GOSI / ZATCA / Open Banking)، والحاجة إلى بيانات تاريخية كافية لتدريب النموذج التنبّؤي.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5146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ECE7E3"/>
          </a:solidFill>
          <a:ln/>
          <a:effectLst>
            <a:outerShdw blurRad="76200" dist="25400" dir="5400000" algn="bl" rotWithShape="0">
              <a:srgbClr val="BFB9B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868680" y="26791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نحتاج مساعدة فيه: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868680" y="32278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الوصول لواجهات برمجية رسمية أو بيئات اختبار (Sandbox) من الجهات الحكومية، وبنك شريك رائد لتجربة المنصة.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0" y="4617720"/>
            <a:ext cx="5166360" cy="1737360"/>
          </a:xfrm>
          <a:prstGeom prst="roundRect">
            <a:avLst>
              <a:gd name="adj" fmla="val 8421"/>
            </a:avLst>
          </a:prstGeom>
          <a:solidFill>
            <a:srgbClr val="ECE7E3"/>
          </a:solidFill>
          <a:ln/>
          <a:effectLst>
            <a:outerShdw blurRad="76200" dist="25400" dir="5400000" algn="bl" rotWithShape="0">
              <a:srgbClr val="BFB9B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629400" y="47823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العرض المستقبلي: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629400" y="5330952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خارطة الطريق: المرحلة الثانية — Open Banking الحيّ وتنبيهات تنبّؤية ومقارنة القطاع؛ المرحلة الثالثة — نموذج تنبّؤي متقدم وAPI لكل البنوك.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051560"/>
            <a:ext cx="2377440" cy="1536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400" b="1" dirty="0">
                <a:solidFill>
                  <a:srgbClr val="F2E8E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شكراً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673</Words>
  <Application>Microsoft Office PowerPoint</Application>
  <PresentationFormat>Widescreen</PresentationFormat>
  <Paragraphs>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 alhrby</cp:lastModifiedBy>
  <cp:revision>5</cp:revision>
  <dcterms:created xsi:type="dcterms:W3CDTF">2026-07-02T16:35:24Z</dcterms:created>
  <dcterms:modified xsi:type="dcterms:W3CDTF">2026-07-17T18:07:17Z</dcterms:modified>
</cp:coreProperties>
</file>