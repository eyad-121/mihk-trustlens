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image" Target="../media/image-2-3.png"/><Relationship Id="rId6" Type="http://schemas.openxmlformats.org/officeDocument/2006/relationships/image" Target="../media/image-2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image" Target="../media/image-6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914400"/>
            <a:ext cx="2377440" cy="1536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4612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2E8E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· TrustLens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42519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D6D1E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الفريق</a:t>
            </a:r>
            <a:endParaRPr lang="en-US" sz="2600" dirty="0"/>
          </a:p>
        </p:txBody>
      </p:sp>
      <p:pic>
        <p:nvPicPr>
          <p:cNvPr id="5" name="Image 1" descr="assets/alin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035040"/>
            <a:ext cx="1371600" cy="548640"/>
          </a:xfrm>
          <a:prstGeom prst="rect">
            <a:avLst/>
          </a:prstGeom>
        </p:spPr>
      </p:pic>
      <p:pic>
        <p:nvPicPr>
          <p:cNvPr id="6" name="Image 2" descr="assets/tuwai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053328"/>
            <a:ext cx="173736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4173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أعضاء الفريق</a:t>
            </a:r>
            <a:endParaRPr lang="en-US" sz="3600" dirty="0"/>
          </a:p>
        </p:txBody>
      </p:sp>
      <p:pic>
        <p:nvPicPr>
          <p:cNvPr id="5" name="Image 2" descr="assets/circle_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328" y="2514600"/>
            <a:ext cx="1316736" cy="131673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833416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العضو</a:t>
            </a:r>
            <a:endParaRPr lang="en-US" sz="2000" dirty="0"/>
          </a:p>
        </p:txBody>
      </p:sp>
      <p:pic>
        <p:nvPicPr>
          <p:cNvPr id="7" name="Image 3" descr="assets/circle_per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670" y="2514600"/>
            <a:ext cx="1316736" cy="131673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93758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العضو</a:t>
            </a:r>
            <a:endParaRPr lang="en-US" sz="2000" dirty="0"/>
          </a:p>
        </p:txBody>
      </p:sp>
      <p:pic>
        <p:nvPicPr>
          <p:cNvPr id="9" name="Image 4" descr="assets/circle_pers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385" y="2514600"/>
            <a:ext cx="1316736" cy="131673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162473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العضو</a:t>
            </a:r>
            <a:endParaRPr lang="en-US" sz="2000" dirty="0"/>
          </a:p>
        </p:txBody>
      </p:sp>
      <p:pic>
        <p:nvPicPr>
          <p:cNvPr id="11" name="Image 5" descr="assets/circle_per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739" y="2514600"/>
            <a:ext cx="1316736" cy="131673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255827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العضو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0" y="1234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المحتويات: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10277856" y="237744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6" name="Text 2"/>
          <p:cNvSpPr/>
          <p:nvPr/>
        </p:nvSpPr>
        <p:spPr>
          <a:xfrm>
            <a:off x="10277856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309360" y="226771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أعضاء الفريق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10277856" y="321868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9" name="Text 5"/>
          <p:cNvSpPr/>
          <p:nvPr/>
        </p:nvSpPr>
        <p:spPr>
          <a:xfrm>
            <a:off x="10277856" y="32186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309360" y="310896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وحلّها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10277856" y="405993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12" name="Text 8"/>
          <p:cNvSpPr/>
          <p:nvPr/>
        </p:nvSpPr>
        <p:spPr>
          <a:xfrm>
            <a:off x="10277856" y="4059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09360" y="395020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وصف الفكرة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10277856" y="490118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15" name="Text 11"/>
          <p:cNvSpPr/>
          <p:nvPr/>
        </p:nvSpPr>
        <p:spPr>
          <a:xfrm>
            <a:off x="10277856" y="49011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09360" y="479145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7370064" y="237744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18" name="Text 14"/>
          <p:cNvSpPr/>
          <p:nvPr/>
        </p:nvSpPr>
        <p:spPr>
          <a:xfrm>
            <a:off x="7370064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926080" y="226771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جميع البيانات المستخدمة (نصية وغير نصية)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7370064" y="321868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21" name="Text 17"/>
          <p:cNvSpPr/>
          <p:nvPr/>
        </p:nvSpPr>
        <p:spPr>
          <a:xfrm>
            <a:off x="7370064" y="32186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2926080" y="310896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كيفية توفير هذه البيانات وكيفية استخدامها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7370064" y="405993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C26B4F"/>
          </a:solidFill>
          <a:ln/>
        </p:spPr>
      </p:sp>
      <p:sp>
        <p:nvSpPr>
          <p:cNvPr id="24" name="Text 20"/>
          <p:cNvSpPr/>
          <p:nvPr/>
        </p:nvSpPr>
        <p:spPr>
          <a:xfrm>
            <a:off x="7370064" y="4059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2926080" y="395020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ملخص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وحلّها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2057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الجوهر: البنوك ترى ماضي المنشأة، بينما التعثّر يبدأ في حاضرها. مِحَك يقرأ الإشارات التشغيلية الحيّة من مصادر رسمية لا تكذب.</a:t>
            </a:r>
            <a:endParaRPr lang="en-US" sz="1500" dirty="0"/>
          </a:p>
        </p:txBody>
      </p:sp>
      <p:pic>
        <p:nvPicPr>
          <p:cNvPr id="6" name="Image 2" descr="assets/ic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063240"/>
            <a:ext cx="603504" cy="5852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852160" y="3044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إشارات تشغيلية صامتة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91440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القوائم المالية والضمانات تعكس الأمس، بينما التعثّر يبدأ اليوم بإشارات مثل تأخّر الرواتب وتسريح الموظفين وتراجع الإيراد الفعلي.</a:t>
            </a:r>
            <a:endParaRPr lang="en-US" sz="1350" dirty="0"/>
          </a:p>
        </p:txBody>
      </p:sp>
      <p:pic>
        <p:nvPicPr>
          <p:cNvPr id="9" name="Image 3" descr="assets/ic_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206240"/>
            <a:ext cx="603504" cy="5852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52160" y="4187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درجة ثقة من مصادر لا تُزوَّر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91440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يحوّل مِحَك البيانات الحكومية الرسمية (GOSI، ZATCA، مدد، SIMAH) إلى درجة ثقة تشغيلية واحدة قابلة للمقارنة بمتوسط القطاع.</a:t>
            </a:r>
            <a:endParaRPr lang="en-US" sz="1350" dirty="0"/>
          </a:p>
        </p:txBody>
      </p:sp>
      <p:pic>
        <p:nvPicPr>
          <p:cNvPr id="12" name="Image 4" descr="assets/ic_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5349240"/>
            <a:ext cx="603504" cy="58521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852160" y="53309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كشف مبكر وقرار أدق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914400" y="5806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تنبيهات تظهر قبل 6–12 شهراً من ظهور التعثّر في القوائم المالية، مع توصية تمويل جاهزة للمحلل الائتماني.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البيانات المستخدمة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البيانات المستخدمة في مِحَك بيانات حكومية رسمية غير قابلة للتزوير، تُجمَع بموافقة المنشأة عبر تكامل رسمي.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المصادر: خمسة مصادر رسمية — GOSI (القوى العاملة والرواتب)، ZATCA (الإيراد الحقيقي)، مدد/WPS (انتظام الرواتب)، Open Banking عبر ساما (التدفق النقدي)، وSIMAH (السجل الائتماني).  </a:t>
            </a:r>
            <a:pPr algn="r" indent="0" marL="0">
              <a:buNone/>
            </a:pP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22960" y="31729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المعالجة: تُجمَع البيانات بموافقة المنشأة عبر تكامل رسمي، ثم تُنظَّف وتُوحَّد وتُطبَّع لتغذية محرك درجة الثقة.  </a:t>
            </a:r>
            <a:pPr algn="r" indent="0" marL="0">
              <a:buNone/>
            </a:pP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373989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التحديات: الوصول الرسمي لواجهات البيانات الحكومية وربطها ضمن إطار المصرفية المفتوحة يتطلب أذونات وتكاملاً دقيقاً.  </a:t>
            </a:r>
            <a:pPr algn="r" indent="0" marL="0">
              <a:buNone/>
            </a:pPr>
            <a:r>
              <a:rPr lang="en-US" sz="12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905881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05881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+99%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905881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منشآت صغيرة ومتوسطة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853324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3324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35%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853324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مساهمة مستهدفة 2030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792393" y="5074920"/>
            <a:ext cx="2377440" cy="1051560"/>
          </a:xfrm>
          <a:prstGeom prst="roundRect">
            <a:avLst>
              <a:gd name="adj" fmla="val 12174"/>
            </a:avLst>
          </a:prstGeom>
          <a:solidFill>
            <a:srgbClr val="F3F3F3"/>
          </a:solidFill>
          <a:ln w="15875">
            <a:solidFill>
              <a:srgbClr val="C9BF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92393" y="51389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792393" y="56509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26B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بيانات رسمية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4000" dirty="0"/>
          </a:p>
        </p:txBody>
      </p:sp>
      <p:pic>
        <p:nvPicPr>
          <p:cNvPr id="5" name="Image 2" descr="assets/ic_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2350008"/>
            <a:ext cx="603504" cy="60350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76656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تكامل واجهات حكومية (APIs)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الربط مع GOSI وZATCA ومدد وSIMAH.</a:t>
            </a:r>
            <a:endParaRPr lang="en-US" sz="1500" dirty="0"/>
          </a:p>
        </p:txBody>
      </p:sp>
      <p:pic>
        <p:nvPicPr>
          <p:cNvPr id="7" name="Image 3" descr="assets/ic_te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3721608"/>
            <a:ext cx="603504" cy="60350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7665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 وتعلّم الآلة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حساب درجة الثقة والتنبّؤ بالتعثّر.</a:t>
            </a:r>
            <a:endParaRPr lang="en-US" sz="1500" dirty="0"/>
          </a:p>
        </p:txBody>
      </p:sp>
      <p:pic>
        <p:nvPicPr>
          <p:cNvPr id="9" name="Image 4" descr="assets/ic_te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5093208"/>
            <a:ext cx="603504" cy="60350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766560" y="4937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معالجة اللغة الطبيعية (NLP)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توليد تقارير عربية للمحلل الائتماني.</a:t>
            </a:r>
            <a:endParaRPr lang="en-US" sz="1500" dirty="0"/>
          </a:p>
        </p:txBody>
      </p:sp>
      <p:pic>
        <p:nvPicPr>
          <p:cNvPr id="11" name="Image 5" descr="assets/ic_te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350008"/>
            <a:ext cx="603504" cy="60350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34440" y="21945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المصرفية المفتوحة (Open Banking)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قراءة التدفق النقدي الحيّ عبر إطار ساما.</a:t>
            </a:r>
            <a:endParaRPr lang="en-US" sz="1500" dirty="0"/>
          </a:p>
        </p:txBody>
      </p:sp>
      <p:pic>
        <p:nvPicPr>
          <p:cNvPr id="13" name="Image 6" descr="assets/ic_te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721608"/>
            <a:ext cx="603504" cy="60350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34440" y="35661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محرك القواعد والتنبيهات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تصنيف الإشارات: خطر / تحذير / تنبيه.</a:t>
            </a:r>
            <a:endParaRPr lang="en-US" sz="1500" dirty="0"/>
          </a:p>
        </p:txBody>
      </p:sp>
      <p:pic>
        <p:nvPicPr>
          <p:cNvPr id="15" name="Image 7" descr="assets/ic_te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5093208"/>
            <a:ext cx="603504" cy="603504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34440" y="49377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تحكم تفاعلية</a:t>
            </a:r>
            <a:endParaRPr lang="en-US" sz="150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52627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الدرجة والمؤشرات والتوصية للبنك.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0"/>
            <a:ext cx="3608943" cy="6858000"/>
          </a:xfrm>
          <a:prstGeom prst="rect">
            <a:avLst/>
          </a:prstGeom>
        </p:spPr>
      </p:pic>
      <p:pic>
        <p:nvPicPr>
          <p:cNvPr id="3" name="Image 1" descr="assets/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4" name="Image 2" descr="assets/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43200" y="1874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وصف الفكرة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2743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· TrustLens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1920240" y="34290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منصة ذكاء تشغيلي تجلس بين المنشأة والبنك. تأخذ رقم السجل التجاري وتتكامل — بموافقة المنشأة — مع المصادر الحكومية، لتُنتج درجة ثقة تشغيلية، وتنبيهات مبكرة، وتوصية تمويل، وتقريراً ذكياً بالعربية.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0"/>
            <a:ext cx="3608943" cy="6858000"/>
          </a:xfrm>
          <a:prstGeom prst="rect">
            <a:avLst/>
          </a:prstGeom>
        </p:spPr>
      </p:pic>
      <p:pic>
        <p:nvPicPr>
          <p:cNvPr id="3" name="Image 1" descr="assets/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4" name="Image 2" descr="assets/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737360" y="16916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3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كيفية توفير هذه البيانات وكيفية استخدامها</a:t>
            </a:r>
            <a:endParaRPr lang="en-US" sz="3300" dirty="0"/>
          </a:p>
        </p:txBody>
      </p:sp>
      <p:sp>
        <p:nvSpPr>
          <p:cNvPr id="6" name="Text 1"/>
          <p:cNvSpPr/>
          <p:nvPr/>
        </p:nvSpPr>
        <p:spPr>
          <a:xfrm>
            <a:off x="1737360" y="3429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تُوفَّر البيانات عبر تكامل رسمي وبموافقة المنشأة مع الجهات الحكومية، ثم تُحلَّل بالذكاء الاصطناعي لإنتاج درجة الثقة والتنبيهات وتوصية التمويل — بما يدعم قرار المحلل الائتماني وتحليل النتائج.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0"/>
            <a:ext cx="3943879" cy="6858000"/>
          </a:xfrm>
          <a:prstGeom prst="rect">
            <a:avLst/>
          </a:prstGeom>
        </p:spPr>
      </p:pic>
      <p:pic>
        <p:nvPicPr>
          <p:cNvPr id="3" name="Image 1" descr="assets/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4" name="Image 2" descr="assets/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11680" y="2057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مواءمة الفكرة :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1463040" y="29718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تتماشى فكرة مِحَك مع محور تمكين المنشآت الصغيرة والمتوسطة ورؤية 2030: رفع مساهمتها في الناتج، وتسهيل وصولها إلى تمويل عادل، وتقليل تعثّر القروض لدى البنوك عبر قرارات ائتمانية أدق.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0"/>
            <a:ext cx="3943879" cy="6858000"/>
          </a:xfrm>
          <a:prstGeom prst="rect">
            <a:avLst/>
          </a:prstGeom>
        </p:spPr>
      </p:pic>
      <p:pic>
        <p:nvPicPr>
          <p:cNvPr id="3" name="Image 1" descr="assets/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4" name="Image 2" descr="assets/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432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ملخص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1371600" y="31089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مِحَك منصة B2B تحوّل البيانات الحكومية غير القابلة للتزوير إلى درجة ثقة تشغيلية وتوصية تمويل. النتيجة: قرارات ائتمانية أسرع وأدق، ومحفظة أنظف للبنوك، ووصول أعدل للتمويل للمنشآت السليمة — بأثر مباشر على رؤية 2030.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7373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الاختبار/التحقق: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2880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النموذج الأولي (MVP): تكامل تجريبي مع GOSI وZATCA، ومحرك لحساب درجة الثقة، ولوحة تحكم، وتقرير ذكي بالعربية. تحقّقنا من منطق المؤشرات وربط كل إشارة بمصدرها عبر حالات منشآت نموذجية.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17520" y="15544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العرض التوضيحي / اللقطات / الفيديوهات / المحاكاة: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2743200" y="48463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B0765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يعرض النموذج الحالي لوحة التحكم ودرجة الثقة والتقرير الذكي — بما يُظهر إنجاز ما يقارب 30% من المشروع.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0"/>
            <a:ext cx="3181898" cy="2286000"/>
          </a:xfrm>
          <a:prstGeom prst="rect">
            <a:avLst/>
          </a:prstGeom>
        </p:spPr>
      </p:pic>
      <p:pic>
        <p:nvPicPr>
          <p:cNvPr id="3" name="Image 1" descr="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48056"/>
            <a:ext cx="1133856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32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 والخطط المستقبلية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400800" y="25146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CE7E3"/>
          </a:solidFill>
          <a:ln/>
          <a:effectLst>
            <a:outerShdw sx="100000" sy="100000" kx="0" ky="0" algn="bl" rotWithShape="0" blurRad="76200" dist="25400" dir="5400000">
              <a:srgbClr val="BFB9B4">
                <a:alpha val="3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629400" y="26791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التحديات: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629400" y="32278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الوصول الرسمي لواجهات البيانات الحكومية (GOSI / ZATCA / Open Banking)، والحاجة إلى بيانات تاريخية كافية لتدريب النموذج التنبّؤي.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5146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CE7E3"/>
          </a:solidFill>
          <a:ln/>
          <a:effectLst>
            <a:outerShdw sx="100000" sy="100000" kx="0" ky="0" algn="bl" rotWithShape="0" blurRad="76200" dist="25400" dir="5400000">
              <a:srgbClr val="BFB9B4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6791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نحتاج مساعدة فيه: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68680" y="32278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الوصول لواجهات برمجية رسمية أو بيئات اختبار (Sandbox) من الجهات الحكومية، وبنك شريك رائد لتجربة المنصة.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0" y="4617720"/>
            <a:ext cx="5166360" cy="1737360"/>
          </a:xfrm>
          <a:prstGeom prst="roundRect">
            <a:avLst>
              <a:gd name="adj" fmla="val 8421"/>
            </a:avLst>
          </a:prstGeom>
          <a:solidFill>
            <a:srgbClr val="ECE7E3"/>
          </a:solidFill>
          <a:ln/>
          <a:effectLst>
            <a:outerShdw sx="100000" sy="100000" kx="0" ky="0" algn="bl" rotWithShape="0" blurRad="76200" dist="25400" dir="5400000">
              <a:srgbClr val="BFB9B4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29400" y="47823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A8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العرض المستقبلي: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629400" y="533095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254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خارطة الطريق: المرحلة الثانية — Open Banking الحيّ وتنبيهات تنبّؤية ومقارنة القطاع؛ المرحلة الثالثة — نموذج تنبّؤي متقدم وAPI لكل البنوك.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051560"/>
            <a:ext cx="2377440" cy="1536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2E8E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شكراً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2026-07-02T16:35:24Z</dcterms:created>
  <dcterms:modified xsi:type="dcterms:W3CDTF">2026-07-02T16:35:24Z</dcterms:modified>
</cp:coreProperties>
</file>